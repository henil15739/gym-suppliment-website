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21601-F23F-4155-A41B-06CA5CFAA3E6}" v="7" dt="2026-01-28T03:23:06.101"/>
    <p1510:client id="{BAF1ECAA-B57E-4029-B11F-0602C65400D9}" v="16" dt="2026-01-27T17:36:27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il Patel" userId="165f73869a1a6501" providerId="LiveId" clId="{3EF02062-55C9-4C61-BFC5-8C8CDE474516}"/>
    <pc:docChg chg="undo custSel addSld modSld">
      <pc:chgData name="Henil Patel" userId="165f73869a1a6501" providerId="LiveId" clId="{3EF02062-55C9-4C61-BFC5-8C8CDE474516}" dt="2026-01-28T07:38:42.361" v="85" actId="1076"/>
      <pc:docMkLst>
        <pc:docMk/>
      </pc:docMkLst>
      <pc:sldChg chg="addSp modSp mod">
        <pc:chgData name="Henil Patel" userId="165f73869a1a6501" providerId="LiveId" clId="{3EF02062-55C9-4C61-BFC5-8C8CDE474516}" dt="2026-01-28T03:24:51.056" v="58" actId="1076"/>
        <pc:sldMkLst>
          <pc:docMk/>
          <pc:sldMk cId="812247206" sldId="256"/>
        </pc:sldMkLst>
        <pc:spChg chg="mod">
          <ac:chgData name="Henil Patel" userId="165f73869a1a6501" providerId="LiveId" clId="{3EF02062-55C9-4C61-BFC5-8C8CDE474516}" dt="2026-01-28T03:24:03.804" v="47" actId="20577"/>
          <ac:spMkLst>
            <pc:docMk/>
            <pc:sldMk cId="812247206" sldId="256"/>
            <ac:spMk id="2" creationId="{AD4443A3-C173-3D1F-6164-6912531B3AC2}"/>
          </ac:spMkLst>
        </pc:spChg>
        <pc:picChg chg="add mod">
          <ac:chgData name="Henil Patel" userId="165f73869a1a6501" providerId="LiveId" clId="{3EF02062-55C9-4C61-BFC5-8C8CDE474516}" dt="2026-01-28T03:24:51.056" v="58" actId="1076"/>
          <ac:picMkLst>
            <pc:docMk/>
            <pc:sldMk cId="812247206" sldId="256"/>
            <ac:picMk id="5" creationId="{1F53C7FF-25F5-49EC-C501-82E9D4A28AA3}"/>
          </ac:picMkLst>
        </pc:picChg>
      </pc:sldChg>
      <pc:sldChg chg="modSp mod">
        <pc:chgData name="Henil Patel" userId="165f73869a1a6501" providerId="LiveId" clId="{3EF02062-55C9-4C61-BFC5-8C8CDE474516}" dt="2026-01-27T17:55:26.929" v="20" actId="27636"/>
        <pc:sldMkLst>
          <pc:docMk/>
          <pc:sldMk cId="1430492442" sldId="257"/>
        </pc:sldMkLst>
        <pc:spChg chg="mod">
          <ac:chgData name="Henil Patel" userId="165f73869a1a6501" providerId="LiveId" clId="{3EF02062-55C9-4C61-BFC5-8C8CDE474516}" dt="2026-01-27T17:55:26.929" v="20" actId="27636"/>
          <ac:spMkLst>
            <pc:docMk/>
            <pc:sldMk cId="1430492442" sldId="257"/>
            <ac:spMk id="2" creationId="{A6EF4294-3107-5298-E8EE-715960E60611}"/>
          </ac:spMkLst>
        </pc:spChg>
      </pc:sldChg>
      <pc:sldChg chg="modSp mod">
        <pc:chgData name="Henil Patel" userId="165f73869a1a6501" providerId="LiveId" clId="{3EF02062-55C9-4C61-BFC5-8C8CDE474516}" dt="2026-01-28T06:36:13.683" v="68" actId="20577"/>
        <pc:sldMkLst>
          <pc:docMk/>
          <pc:sldMk cId="835286365" sldId="258"/>
        </pc:sldMkLst>
        <pc:spChg chg="mod">
          <ac:chgData name="Henil Patel" userId="165f73869a1a6501" providerId="LiveId" clId="{3EF02062-55C9-4C61-BFC5-8C8CDE474516}" dt="2026-01-28T06:36:13.683" v="68" actId="20577"/>
          <ac:spMkLst>
            <pc:docMk/>
            <pc:sldMk cId="835286365" sldId="258"/>
            <ac:spMk id="12" creationId="{FD9A4120-55DB-CFC9-5CBB-77A8968E1D73}"/>
          </ac:spMkLst>
        </pc:spChg>
      </pc:sldChg>
      <pc:sldChg chg="modSp mod">
        <pc:chgData name="Henil Patel" userId="165f73869a1a6501" providerId="LiveId" clId="{3EF02062-55C9-4C61-BFC5-8C8CDE474516}" dt="2026-01-28T03:53:02.454" v="62" actId="20577"/>
        <pc:sldMkLst>
          <pc:docMk/>
          <pc:sldMk cId="1875356182" sldId="259"/>
        </pc:sldMkLst>
        <pc:graphicFrameChg chg="modGraphic">
          <ac:chgData name="Henil Patel" userId="165f73869a1a6501" providerId="LiveId" clId="{3EF02062-55C9-4C61-BFC5-8C8CDE474516}" dt="2026-01-28T03:53:02.454" v="62" actId="20577"/>
          <ac:graphicFrameMkLst>
            <pc:docMk/>
            <pc:sldMk cId="1875356182" sldId="259"/>
            <ac:graphicFrameMk id="4" creationId="{EE2261AF-7874-2E07-2F94-6A16836EDAA6}"/>
          </ac:graphicFrameMkLst>
        </pc:graphicFrameChg>
      </pc:sldChg>
      <pc:sldChg chg="modSp mod">
        <pc:chgData name="Henil Patel" userId="165f73869a1a6501" providerId="LiveId" clId="{3EF02062-55C9-4C61-BFC5-8C8CDE474516}" dt="2026-01-27T17:56:02.183" v="25"/>
        <pc:sldMkLst>
          <pc:docMk/>
          <pc:sldMk cId="3241755713" sldId="261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3241755713" sldId="261"/>
            <ac:spMk id="2" creationId="{5F2A88FE-B7C1-F8D9-F77E-AD3E403111CD}"/>
          </ac:spMkLst>
        </pc:spChg>
        <pc:spChg chg="mod">
          <ac:chgData name="Henil Patel" userId="165f73869a1a6501" providerId="LiveId" clId="{3EF02062-55C9-4C61-BFC5-8C8CDE474516}" dt="2026-01-27T17:56:02.183" v="25"/>
          <ac:spMkLst>
            <pc:docMk/>
            <pc:sldMk cId="3241755713" sldId="261"/>
            <ac:spMk id="3" creationId="{8F587441-264D-AC77-129A-650FC03132D3}"/>
          </ac:spMkLst>
        </pc:spChg>
        <pc:spChg chg="mod">
          <ac:chgData name="Henil Patel" userId="165f73869a1a6501" providerId="LiveId" clId="{3EF02062-55C9-4C61-BFC5-8C8CDE474516}" dt="2026-01-27T17:56:02.183" v="25"/>
          <ac:spMkLst>
            <pc:docMk/>
            <pc:sldMk cId="3241755713" sldId="261"/>
            <ac:spMk id="4" creationId="{444C49B0-0CCE-C1E6-047B-E7833541029F}"/>
          </ac:spMkLst>
        </pc:spChg>
      </pc:sldChg>
      <pc:sldChg chg="modSp mod">
        <pc:chgData name="Henil Patel" userId="165f73869a1a6501" providerId="LiveId" clId="{3EF02062-55C9-4C61-BFC5-8C8CDE474516}" dt="2026-01-27T17:56:02.183" v="25"/>
        <pc:sldMkLst>
          <pc:docMk/>
          <pc:sldMk cId="3323223009" sldId="262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3323223009" sldId="262"/>
            <ac:spMk id="2" creationId="{3F67C503-BD4E-6D30-E883-4022CE99257C}"/>
          </ac:spMkLst>
        </pc:spChg>
      </pc:sldChg>
      <pc:sldChg chg="modSp mod">
        <pc:chgData name="Henil Patel" userId="165f73869a1a6501" providerId="LiveId" clId="{3EF02062-55C9-4C61-BFC5-8C8CDE474516}" dt="2026-01-27T17:56:02.183" v="25"/>
        <pc:sldMkLst>
          <pc:docMk/>
          <pc:sldMk cId="2929777788" sldId="263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2929777788" sldId="263"/>
            <ac:spMk id="2" creationId="{E64C90D5-BE07-DD1F-79DF-E74295A21742}"/>
          </ac:spMkLst>
        </pc:spChg>
      </pc:sldChg>
      <pc:sldChg chg="modSp mod">
        <pc:chgData name="Henil Patel" userId="165f73869a1a6501" providerId="LiveId" clId="{3EF02062-55C9-4C61-BFC5-8C8CDE474516}" dt="2026-01-28T07:38:42.361" v="85" actId="1076"/>
        <pc:sldMkLst>
          <pc:docMk/>
          <pc:sldMk cId="2437231196" sldId="264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2437231196" sldId="264"/>
            <ac:spMk id="2" creationId="{2139A8B4-65F1-844A-9772-F0DE3BEC0FC5}"/>
          </ac:spMkLst>
        </pc:spChg>
        <pc:picChg chg="mod">
          <ac:chgData name="Henil Patel" userId="165f73869a1a6501" providerId="LiveId" clId="{3EF02062-55C9-4C61-BFC5-8C8CDE474516}" dt="2026-01-28T07:38:42.361" v="85" actId="1076"/>
          <ac:picMkLst>
            <pc:docMk/>
            <pc:sldMk cId="2437231196" sldId="264"/>
            <ac:picMk id="18" creationId="{646C0E3E-4F6F-F1AD-DD67-CBF1113658EC}"/>
          </ac:picMkLst>
        </pc:picChg>
      </pc:sldChg>
      <pc:sldChg chg="modSp">
        <pc:chgData name="Henil Patel" userId="165f73869a1a6501" providerId="LiveId" clId="{3EF02062-55C9-4C61-BFC5-8C8CDE474516}" dt="2026-01-27T17:56:02.183" v="25"/>
        <pc:sldMkLst>
          <pc:docMk/>
          <pc:sldMk cId="3851193785" sldId="265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3851193785" sldId="265"/>
            <ac:spMk id="2" creationId="{2BF911EA-9DF2-9689-1F98-55D188A4C9EE}"/>
          </ac:spMkLst>
        </pc:spChg>
      </pc:sldChg>
      <pc:sldChg chg="modSp mod">
        <pc:chgData name="Henil Patel" userId="165f73869a1a6501" providerId="LiveId" clId="{3EF02062-55C9-4C61-BFC5-8C8CDE474516}" dt="2026-01-27T17:56:02.183" v="25"/>
        <pc:sldMkLst>
          <pc:docMk/>
          <pc:sldMk cId="2506577372" sldId="266"/>
        </pc:sldMkLst>
        <pc:spChg chg="mod">
          <ac:chgData name="Henil Patel" userId="165f73869a1a6501" providerId="LiveId" clId="{3EF02062-55C9-4C61-BFC5-8C8CDE474516}" dt="2026-01-27T17:56:02.183" v="25"/>
          <ac:spMkLst>
            <pc:docMk/>
            <pc:sldMk cId="2506577372" sldId="266"/>
            <ac:spMk id="2" creationId="{57D5B5CB-301B-41A3-B6CC-E3DB557EE633}"/>
          </ac:spMkLst>
        </pc:spChg>
        <pc:picChg chg="mod">
          <ac:chgData name="Henil Patel" userId="165f73869a1a6501" providerId="LiveId" clId="{3EF02062-55C9-4C61-BFC5-8C8CDE474516}" dt="2026-01-27T17:55:07.288" v="3" actId="1076"/>
          <ac:picMkLst>
            <pc:docMk/>
            <pc:sldMk cId="2506577372" sldId="266"/>
            <ac:picMk id="7" creationId="{F2F6BDA2-EF5A-E057-F98C-9AAF4FC51E74}"/>
          </ac:picMkLst>
        </pc:picChg>
      </pc:sldChg>
      <pc:sldChg chg="modSp mod">
        <pc:chgData name="Henil Patel" userId="165f73869a1a6501" providerId="LiveId" clId="{3EF02062-55C9-4C61-BFC5-8C8CDE474516}" dt="2026-01-28T03:27:39.558" v="60" actId="255"/>
        <pc:sldMkLst>
          <pc:docMk/>
          <pc:sldMk cId="3838996906" sldId="267"/>
        </pc:sldMkLst>
        <pc:spChg chg="mod">
          <ac:chgData name="Henil Patel" userId="165f73869a1a6501" providerId="LiveId" clId="{3EF02062-55C9-4C61-BFC5-8C8CDE474516}" dt="2026-01-28T03:27:39.558" v="60" actId="255"/>
          <ac:spMkLst>
            <pc:docMk/>
            <pc:sldMk cId="3838996906" sldId="267"/>
            <ac:spMk id="6" creationId="{1A458AE3-11C8-9A81-16E5-7E9A79490A1A}"/>
          </ac:spMkLst>
        </pc:spChg>
      </pc:sldChg>
      <pc:sldChg chg="modSp new mod">
        <pc:chgData name="Henil Patel" userId="165f73869a1a6501" providerId="LiveId" clId="{3EF02062-55C9-4C61-BFC5-8C8CDE474516}" dt="2026-01-28T06:38:04.229" v="84" actId="1076"/>
        <pc:sldMkLst>
          <pc:docMk/>
          <pc:sldMk cId="3181626346" sldId="271"/>
        </pc:sldMkLst>
        <pc:spChg chg="mod">
          <ac:chgData name="Henil Patel" userId="165f73869a1a6501" providerId="LiveId" clId="{3EF02062-55C9-4C61-BFC5-8C8CDE474516}" dt="2026-01-28T06:38:04.229" v="84" actId="1076"/>
          <ac:spMkLst>
            <pc:docMk/>
            <pc:sldMk cId="3181626346" sldId="271"/>
            <ac:spMk id="2" creationId="{82D29382-2B5E-7677-A9F8-47E83B6F893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ABA45-D705-4E91-A5A2-980538DE4553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A8CBB74-8D37-4D1B-8D03-10E1B26ABAB7}">
      <dgm:prSet phldrT="[Text]"/>
      <dgm:spPr/>
      <dgm:t>
        <a:bodyPr/>
        <a:lstStyle/>
        <a:p>
          <a:pPr>
            <a:buNone/>
          </a:pPr>
          <a:r>
            <a:rPr lang="en-IN" b="1" dirty="0"/>
            <a:t>Problem Statement Definition</a:t>
          </a:r>
          <a:endParaRPr lang="en-IN" dirty="0"/>
        </a:p>
      </dgm:t>
    </dgm:pt>
    <dgm:pt modelId="{156DC8F2-0470-455E-8E76-71B0C5B3BDE3}" type="parTrans" cxnId="{75709649-3369-4FDE-AB98-858FFCEE93D1}">
      <dgm:prSet/>
      <dgm:spPr/>
      <dgm:t>
        <a:bodyPr/>
        <a:lstStyle/>
        <a:p>
          <a:endParaRPr lang="en-IN"/>
        </a:p>
      </dgm:t>
    </dgm:pt>
    <dgm:pt modelId="{22AFB4FC-6AF0-43CA-A757-CF9EF50624E2}" type="sibTrans" cxnId="{75709649-3369-4FDE-AB98-858FFCEE93D1}">
      <dgm:prSet/>
      <dgm:spPr/>
      <dgm:t>
        <a:bodyPr/>
        <a:lstStyle/>
        <a:p>
          <a:endParaRPr lang="en-IN"/>
        </a:p>
      </dgm:t>
    </dgm:pt>
    <dgm:pt modelId="{7BC1D7A1-DE1B-447F-8395-C48F2742B6BE}">
      <dgm:prSet phldrT="[Text]"/>
      <dgm:spPr/>
      <dgm:t>
        <a:bodyPr/>
        <a:lstStyle/>
        <a:p>
          <a:pPr algn="ctr">
            <a:buNone/>
          </a:pPr>
          <a:r>
            <a:rPr lang="en-IN" b="1" dirty="0"/>
            <a:t>Market Gap Identification</a:t>
          </a:r>
        </a:p>
        <a:p>
          <a:pPr algn="l">
            <a:buNone/>
          </a:pPr>
          <a:r>
            <a:rPr lang="en-US" dirty="0"/>
            <a:t>Current gym supplement websites lack intuitive navigation, </a:t>
          </a:r>
          <a:r>
            <a:rPr lang="en-US" dirty="0" err="1"/>
            <a:t>personalised</a:t>
          </a:r>
          <a:r>
            <a:rPr lang="en-US" dirty="0"/>
            <a:t> recommendations, and reliable product information, leading to customer frustration and abandoned purchases.</a:t>
          </a:r>
          <a:endParaRPr lang="en-IN" dirty="0"/>
        </a:p>
      </dgm:t>
    </dgm:pt>
    <dgm:pt modelId="{DA3A8482-5959-4E04-B5B2-BA52204FE6AC}" type="parTrans" cxnId="{A7E6F9B7-5138-4B08-A40A-2B7CC338C07E}">
      <dgm:prSet/>
      <dgm:spPr/>
      <dgm:t>
        <a:bodyPr/>
        <a:lstStyle/>
        <a:p>
          <a:endParaRPr lang="en-IN"/>
        </a:p>
      </dgm:t>
    </dgm:pt>
    <dgm:pt modelId="{692F8AC4-918E-42F2-9D1A-3F28B9EB6527}" type="sibTrans" cxnId="{A7E6F9B7-5138-4B08-A40A-2B7CC338C07E}">
      <dgm:prSet/>
      <dgm:spPr/>
      <dgm:t>
        <a:bodyPr/>
        <a:lstStyle/>
        <a:p>
          <a:endParaRPr lang="en-IN"/>
        </a:p>
      </dgm:t>
    </dgm:pt>
    <dgm:pt modelId="{215B4A14-0A7F-4419-BCC0-F6BFE0036BA4}">
      <dgm:prSet phldrT="[Text]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IN" b="1" dirty="0"/>
            <a:t>Customer Pain Points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dirty="0"/>
            <a:t>Difficulty finding suitable products for specific fitness goals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dirty="0"/>
            <a:t>Lack of transparent ingredient information </a:t>
          </a:r>
          <a:r>
            <a:rPr lang="en-US"/>
            <a:t>and certifications</a:t>
          </a:r>
          <a:endParaRPr lang="en-IN" dirty="0"/>
        </a:p>
        <a:p>
          <a:pPr algn="l">
            <a:buFont typeface="Arial" panose="020B0604020202020204" pitchFamily="34" charset="0"/>
            <a:buChar char="•"/>
          </a:pPr>
          <a:r>
            <a:rPr lang="en-US" dirty="0"/>
            <a:t>Limited customer support and guidance</a:t>
          </a:r>
          <a:endParaRPr lang="en-IN" dirty="0"/>
        </a:p>
      </dgm:t>
    </dgm:pt>
    <dgm:pt modelId="{631CDC0F-5149-4B17-AC78-42AF1B11AD99}" type="parTrans" cxnId="{BFE95F8C-5100-4156-A70A-EC26CCB28DBB}">
      <dgm:prSet/>
      <dgm:spPr/>
      <dgm:t>
        <a:bodyPr/>
        <a:lstStyle/>
        <a:p>
          <a:endParaRPr lang="en-IN"/>
        </a:p>
      </dgm:t>
    </dgm:pt>
    <dgm:pt modelId="{832808A7-361F-4A3C-9A97-C4487AEEC1E2}" type="sibTrans" cxnId="{BFE95F8C-5100-4156-A70A-EC26CCB28DBB}">
      <dgm:prSet/>
      <dgm:spPr/>
      <dgm:t>
        <a:bodyPr/>
        <a:lstStyle/>
        <a:p>
          <a:endParaRPr lang="en-IN"/>
        </a:p>
      </dgm:t>
    </dgm:pt>
    <dgm:pt modelId="{AEB59369-2F3F-4294-A1A4-4983FFCD4D5C}">
      <dgm:prSet phldrT="[Text]"/>
      <dgm:spPr/>
      <dgm:t>
        <a:bodyPr/>
        <a:lstStyle/>
        <a:p>
          <a:pPr algn="ctr">
            <a:buNone/>
          </a:pPr>
          <a:r>
            <a:rPr lang="en-IN" b="1" dirty="0"/>
            <a:t>Business Challenge</a:t>
          </a:r>
        </a:p>
        <a:p>
          <a:pPr algn="l">
            <a:buNone/>
          </a:pPr>
          <a:r>
            <a:rPr lang="en-US" dirty="0"/>
            <a:t>Need for a competitive platform that drives conversions, builds trust, and establishes GAINZ as the go-to destination for quality supplements in a saturated market.</a:t>
          </a:r>
          <a:endParaRPr lang="en-IN" dirty="0"/>
        </a:p>
      </dgm:t>
    </dgm:pt>
    <dgm:pt modelId="{433FE90E-55DD-4720-9DF6-0A5732A8F5EE}" type="parTrans" cxnId="{E496CB73-5239-467B-A7B4-A7A9DD4FA456}">
      <dgm:prSet/>
      <dgm:spPr/>
      <dgm:t>
        <a:bodyPr/>
        <a:lstStyle/>
        <a:p>
          <a:endParaRPr lang="en-IN"/>
        </a:p>
      </dgm:t>
    </dgm:pt>
    <dgm:pt modelId="{AC8A0163-5A04-4CBD-9694-433717F797C9}" type="sibTrans" cxnId="{E496CB73-5239-467B-A7B4-A7A9DD4FA456}">
      <dgm:prSet/>
      <dgm:spPr/>
      <dgm:t>
        <a:bodyPr/>
        <a:lstStyle/>
        <a:p>
          <a:endParaRPr lang="en-IN"/>
        </a:p>
      </dgm:t>
    </dgm:pt>
    <dgm:pt modelId="{80521376-4EC7-4A34-AB60-F589BE0967DB}" type="pres">
      <dgm:prSet presAssocID="{6CBABA45-D705-4E91-A5A2-980538DE4553}" presName="composite" presStyleCnt="0">
        <dgm:presLayoutVars>
          <dgm:chMax val="1"/>
          <dgm:dir/>
          <dgm:resizeHandles val="exact"/>
        </dgm:presLayoutVars>
      </dgm:prSet>
      <dgm:spPr/>
    </dgm:pt>
    <dgm:pt modelId="{32423542-31E6-4964-964C-AC461B1E3CA5}" type="pres">
      <dgm:prSet presAssocID="{3A8CBB74-8D37-4D1B-8D03-10E1B26ABAB7}" presName="roof" presStyleLbl="dkBgShp" presStyleIdx="0" presStyleCnt="2"/>
      <dgm:spPr/>
    </dgm:pt>
    <dgm:pt modelId="{8D6D7650-87DC-4990-8590-00F6C1B72B08}" type="pres">
      <dgm:prSet presAssocID="{3A8CBB74-8D37-4D1B-8D03-10E1B26ABAB7}" presName="pillars" presStyleCnt="0"/>
      <dgm:spPr/>
    </dgm:pt>
    <dgm:pt modelId="{30CFED77-7232-4A38-B7B1-C8657B4C32AF}" type="pres">
      <dgm:prSet presAssocID="{3A8CBB74-8D37-4D1B-8D03-10E1B26ABAB7}" presName="pillar1" presStyleLbl="node1" presStyleIdx="0" presStyleCnt="3">
        <dgm:presLayoutVars>
          <dgm:bulletEnabled val="1"/>
        </dgm:presLayoutVars>
      </dgm:prSet>
      <dgm:spPr/>
    </dgm:pt>
    <dgm:pt modelId="{75C1E571-0D33-4E5F-94DA-88692C91D46A}" type="pres">
      <dgm:prSet presAssocID="{215B4A14-0A7F-4419-BCC0-F6BFE0036BA4}" presName="pillarX" presStyleLbl="node1" presStyleIdx="1" presStyleCnt="3">
        <dgm:presLayoutVars>
          <dgm:bulletEnabled val="1"/>
        </dgm:presLayoutVars>
      </dgm:prSet>
      <dgm:spPr/>
    </dgm:pt>
    <dgm:pt modelId="{2EA2DFB6-1560-431C-ABEF-0C8D6283082E}" type="pres">
      <dgm:prSet presAssocID="{AEB59369-2F3F-4294-A1A4-4983FFCD4D5C}" presName="pillarX" presStyleLbl="node1" presStyleIdx="2" presStyleCnt="3" custScaleY="100880">
        <dgm:presLayoutVars>
          <dgm:bulletEnabled val="1"/>
        </dgm:presLayoutVars>
      </dgm:prSet>
      <dgm:spPr/>
    </dgm:pt>
    <dgm:pt modelId="{2002E39B-9486-4B3E-8306-4B66333C365B}" type="pres">
      <dgm:prSet presAssocID="{3A8CBB74-8D37-4D1B-8D03-10E1B26ABAB7}" presName="base" presStyleLbl="dkBgShp" presStyleIdx="1" presStyleCnt="2"/>
      <dgm:spPr/>
    </dgm:pt>
  </dgm:ptLst>
  <dgm:cxnLst>
    <dgm:cxn modelId="{1819FA1D-07E1-4F8F-B289-499B1DCBB3AA}" type="presOf" srcId="{7BC1D7A1-DE1B-447F-8395-C48F2742B6BE}" destId="{30CFED77-7232-4A38-B7B1-C8657B4C32AF}" srcOrd="0" destOrd="0" presId="urn:microsoft.com/office/officeart/2005/8/layout/hList3"/>
    <dgm:cxn modelId="{55DF312A-FE97-4F68-A4DD-DF1197AF671F}" type="presOf" srcId="{6CBABA45-D705-4E91-A5A2-980538DE4553}" destId="{80521376-4EC7-4A34-AB60-F589BE0967DB}" srcOrd="0" destOrd="0" presId="urn:microsoft.com/office/officeart/2005/8/layout/hList3"/>
    <dgm:cxn modelId="{8954823D-95BE-450A-ADB1-123F81C63859}" type="presOf" srcId="{AEB59369-2F3F-4294-A1A4-4983FFCD4D5C}" destId="{2EA2DFB6-1560-431C-ABEF-0C8D6283082E}" srcOrd="0" destOrd="0" presId="urn:microsoft.com/office/officeart/2005/8/layout/hList3"/>
    <dgm:cxn modelId="{EC0CBF5F-C0EB-42E7-A252-9BD01908FC92}" type="presOf" srcId="{3A8CBB74-8D37-4D1B-8D03-10E1B26ABAB7}" destId="{32423542-31E6-4964-964C-AC461B1E3CA5}" srcOrd="0" destOrd="0" presId="urn:microsoft.com/office/officeart/2005/8/layout/hList3"/>
    <dgm:cxn modelId="{75709649-3369-4FDE-AB98-858FFCEE93D1}" srcId="{6CBABA45-D705-4E91-A5A2-980538DE4553}" destId="{3A8CBB74-8D37-4D1B-8D03-10E1B26ABAB7}" srcOrd="0" destOrd="0" parTransId="{156DC8F2-0470-455E-8E76-71B0C5B3BDE3}" sibTransId="{22AFB4FC-6AF0-43CA-A757-CF9EF50624E2}"/>
    <dgm:cxn modelId="{E496CB73-5239-467B-A7B4-A7A9DD4FA456}" srcId="{3A8CBB74-8D37-4D1B-8D03-10E1B26ABAB7}" destId="{AEB59369-2F3F-4294-A1A4-4983FFCD4D5C}" srcOrd="2" destOrd="0" parTransId="{433FE90E-55DD-4720-9DF6-0A5732A8F5EE}" sibTransId="{AC8A0163-5A04-4CBD-9694-433717F797C9}"/>
    <dgm:cxn modelId="{BFE95F8C-5100-4156-A70A-EC26CCB28DBB}" srcId="{3A8CBB74-8D37-4D1B-8D03-10E1B26ABAB7}" destId="{215B4A14-0A7F-4419-BCC0-F6BFE0036BA4}" srcOrd="1" destOrd="0" parTransId="{631CDC0F-5149-4B17-AC78-42AF1B11AD99}" sibTransId="{832808A7-361F-4A3C-9A97-C4487AEEC1E2}"/>
    <dgm:cxn modelId="{7B35AD98-16D1-4F5A-84B3-1133077EC81F}" type="presOf" srcId="{215B4A14-0A7F-4419-BCC0-F6BFE0036BA4}" destId="{75C1E571-0D33-4E5F-94DA-88692C91D46A}" srcOrd="0" destOrd="0" presId="urn:microsoft.com/office/officeart/2005/8/layout/hList3"/>
    <dgm:cxn modelId="{A7E6F9B7-5138-4B08-A40A-2B7CC338C07E}" srcId="{3A8CBB74-8D37-4D1B-8D03-10E1B26ABAB7}" destId="{7BC1D7A1-DE1B-447F-8395-C48F2742B6BE}" srcOrd="0" destOrd="0" parTransId="{DA3A8482-5959-4E04-B5B2-BA52204FE6AC}" sibTransId="{692F8AC4-918E-42F2-9D1A-3F28B9EB6527}"/>
    <dgm:cxn modelId="{57A06B7C-3BAE-4E2E-8885-EB8BADF3DAB9}" type="presParOf" srcId="{80521376-4EC7-4A34-AB60-F589BE0967DB}" destId="{32423542-31E6-4964-964C-AC461B1E3CA5}" srcOrd="0" destOrd="0" presId="urn:microsoft.com/office/officeart/2005/8/layout/hList3"/>
    <dgm:cxn modelId="{4E19031A-2EBE-4E5A-BEE3-0798E57A0158}" type="presParOf" srcId="{80521376-4EC7-4A34-AB60-F589BE0967DB}" destId="{8D6D7650-87DC-4990-8590-00F6C1B72B08}" srcOrd="1" destOrd="0" presId="urn:microsoft.com/office/officeart/2005/8/layout/hList3"/>
    <dgm:cxn modelId="{ECFE52CA-34C4-4A2F-8A5D-F2C6A45BE491}" type="presParOf" srcId="{8D6D7650-87DC-4990-8590-00F6C1B72B08}" destId="{30CFED77-7232-4A38-B7B1-C8657B4C32AF}" srcOrd="0" destOrd="0" presId="urn:microsoft.com/office/officeart/2005/8/layout/hList3"/>
    <dgm:cxn modelId="{9183C6F1-A72A-495F-8736-CA524B6549BE}" type="presParOf" srcId="{8D6D7650-87DC-4990-8590-00F6C1B72B08}" destId="{75C1E571-0D33-4E5F-94DA-88692C91D46A}" srcOrd="1" destOrd="0" presId="urn:microsoft.com/office/officeart/2005/8/layout/hList3"/>
    <dgm:cxn modelId="{C0221C55-1ED6-4DBB-9399-721D3F0C3696}" type="presParOf" srcId="{8D6D7650-87DC-4990-8590-00F6C1B72B08}" destId="{2EA2DFB6-1560-431C-ABEF-0C8D6283082E}" srcOrd="2" destOrd="0" presId="urn:microsoft.com/office/officeart/2005/8/layout/hList3"/>
    <dgm:cxn modelId="{68AF02EB-8315-4DC2-9C79-5A3A4B1B3B8E}" type="presParOf" srcId="{80521376-4EC7-4A34-AB60-F589BE0967DB}" destId="{2002E39B-9486-4B3E-8306-4B66333C365B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23542-31E6-4964-964C-AC461B1E3CA5}">
      <dsp:nvSpPr>
        <dsp:cNvPr id="0" name=""/>
        <dsp:cNvSpPr/>
      </dsp:nvSpPr>
      <dsp:spPr>
        <a:xfrm>
          <a:off x="0" y="0"/>
          <a:ext cx="8128000" cy="1625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b="1" kern="1200" dirty="0"/>
            <a:t>Problem Statement Definition</a:t>
          </a:r>
          <a:endParaRPr lang="en-IN" sz="4500" kern="1200" dirty="0"/>
        </a:p>
      </dsp:txBody>
      <dsp:txXfrm>
        <a:off x="0" y="0"/>
        <a:ext cx="8128000" cy="1625600"/>
      </dsp:txXfrm>
    </dsp:sp>
    <dsp:sp modelId="{30CFED77-7232-4A38-B7B1-C8657B4C32AF}">
      <dsp:nvSpPr>
        <dsp:cNvPr id="0" name=""/>
        <dsp:cNvSpPr/>
      </dsp:nvSpPr>
      <dsp:spPr>
        <a:xfrm>
          <a:off x="3968" y="1625600"/>
          <a:ext cx="2706687" cy="3413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Market Gap Identification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Current gym supplement websites lack intuitive navigation, </a:t>
          </a:r>
          <a:r>
            <a:rPr lang="en-US" sz="1700" kern="1200" dirty="0" err="1"/>
            <a:t>personalised</a:t>
          </a:r>
          <a:r>
            <a:rPr lang="en-US" sz="1700" kern="1200" dirty="0"/>
            <a:t> recommendations, and reliable product information, leading to customer frustration and abandoned purchases.</a:t>
          </a:r>
          <a:endParaRPr lang="en-IN" sz="1700" kern="1200" dirty="0"/>
        </a:p>
      </dsp:txBody>
      <dsp:txXfrm>
        <a:off x="3968" y="1625600"/>
        <a:ext cx="2706687" cy="3413760"/>
      </dsp:txXfrm>
    </dsp:sp>
    <dsp:sp modelId="{75C1E571-0D33-4E5F-94DA-88692C91D46A}">
      <dsp:nvSpPr>
        <dsp:cNvPr id="0" name=""/>
        <dsp:cNvSpPr/>
      </dsp:nvSpPr>
      <dsp:spPr>
        <a:xfrm>
          <a:off x="2710656" y="1625600"/>
          <a:ext cx="2706687" cy="3413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kern="1200" dirty="0"/>
            <a:t>Customer Pain Points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Difficulty finding suitable products for specific fitness goals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Lack of transparent ingredient information </a:t>
          </a:r>
          <a:r>
            <a:rPr lang="en-US" sz="1700" kern="1200"/>
            <a:t>and certifications</a:t>
          </a:r>
          <a:endParaRPr lang="en-IN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Limited customer support and guidance</a:t>
          </a:r>
          <a:endParaRPr lang="en-IN" sz="1700" kern="1200" dirty="0"/>
        </a:p>
      </dsp:txBody>
      <dsp:txXfrm>
        <a:off x="2710656" y="1625600"/>
        <a:ext cx="2706687" cy="3413760"/>
      </dsp:txXfrm>
    </dsp:sp>
    <dsp:sp modelId="{2EA2DFB6-1560-431C-ABEF-0C8D6283082E}">
      <dsp:nvSpPr>
        <dsp:cNvPr id="0" name=""/>
        <dsp:cNvSpPr/>
      </dsp:nvSpPr>
      <dsp:spPr>
        <a:xfrm>
          <a:off x="5417343" y="1610579"/>
          <a:ext cx="2706687" cy="3443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Business Challenge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Need for a competitive platform that drives conversions, builds trust, and establishes GAINZ as the go-to destination for quality supplements in a saturated market.</a:t>
          </a:r>
          <a:endParaRPr lang="en-IN" sz="1700" kern="1200" dirty="0"/>
        </a:p>
      </dsp:txBody>
      <dsp:txXfrm>
        <a:off x="5417343" y="1610579"/>
        <a:ext cx="2706687" cy="3443801"/>
      </dsp:txXfrm>
    </dsp:sp>
    <dsp:sp modelId="{2002E39B-9486-4B3E-8306-4B66333C365B}">
      <dsp:nvSpPr>
        <dsp:cNvPr id="0" name=""/>
        <dsp:cNvSpPr/>
      </dsp:nvSpPr>
      <dsp:spPr>
        <a:xfrm>
          <a:off x="0" y="5039360"/>
          <a:ext cx="8128000" cy="3793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7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18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60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70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6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7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49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9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34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7000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90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2620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6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95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56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1E966-6852-41C9-8028-000E8A790D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977E0D-A86A-45EE-9AEA-2752AFEEA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08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43A3-C173-3D1F-6164-6912531B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2682"/>
          </a:xfrm>
        </p:spPr>
        <p:txBody>
          <a:bodyPr/>
          <a:lstStyle/>
          <a:p>
            <a:r>
              <a:rPr lang="en-US" dirty="0"/>
              <a:t>GAINZ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76909-7EF0-A561-A6C9-C627A2BAA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41523"/>
            <a:ext cx="9144000" cy="241627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Initial Project Proposal &amp; Planning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3C7FF-25F5-49EC-C501-82E9D4A28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7" y="4984955"/>
            <a:ext cx="2379407" cy="204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4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4294-3107-5298-E8EE-715960E60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1405"/>
          </a:xfrm>
        </p:spPr>
        <p:txBody>
          <a:bodyPr>
            <a:normAutofit/>
          </a:bodyPr>
          <a:lstStyle/>
          <a:p>
            <a:r>
              <a:rPr lang="en-IN" b="1" dirty="0"/>
              <a:t>Project Foundation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EC6B5-E072-1D0A-CFCA-E8B74803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1923"/>
            <a:ext cx="9144000" cy="3025877"/>
          </a:xfrm>
        </p:spPr>
        <p:txBody>
          <a:bodyPr/>
          <a:lstStyle/>
          <a:p>
            <a:pPr algn="l"/>
            <a:r>
              <a:rPr lang="en-US" dirty="0"/>
              <a:t>Welcome to the GAINZ website development project. This presentation outlines our comprehensive approach to creating a cutting-edge e-commerce platform for gym supplements that will </a:t>
            </a:r>
            <a:r>
              <a:rPr lang="en-US" dirty="0" err="1"/>
              <a:t>revolutionise</a:t>
            </a:r>
            <a:r>
              <a:rPr lang="en-US" dirty="0"/>
              <a:t> how fitness enthusiasts access premium nutritional products.</a:t>
            </a:r>
          </a:p>
          <a:p>
            <a:pPr algn="l"/>
            <a:r>
              <a:rPr lang="en-US" dirty="0"/>
              <a:t>Our structured methodology ensures we deliver a robust, user-friendly solution that meets both business objectives and customer needs whilst maintaining the highest technical standards.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492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717FB2-8E96-0667-5453-E6BB37C8E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304" y="15737"/>
            <a:ext cx="83111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Title 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Finalisation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0E046-C640-46E8-0694-5EC3C948BE7F}"/>
              </a:ext>
            </a:extLst>
          </p:cNvPr>
          <p:cNvSpPr txBox="1"/>
          <p:nvPr/>
        </p:nvSpPr>
        <p:spPr>
          <a:xfrm>
            <a:off x="324465" y="1543665"/>
            <a:ext cx="3165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Official Project Name</a:t>
            </a:r>
          </a:p>
          <a:p>
            <a:r>
              <a:rPr lang="en-IN" b="1" dirty="0"/>
              <a:t>GAINZ E-Commerce Platform</a:t>
            </a:r>
            <a:endParaRPr lang="en-IN" dirty="0"/>
          </a:p>
          <a:p>
            <a:endParaRPr lang="en-IN" dirty="0"/>
          </a:p>
          <a:p>
            <a:r>
              <a:rPr lang="en-IN" dirty="0"/>
              <a:t>A comprehensive digital solution for gym supplement retail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4FFC4-4DBB-E10C-BD4F-7D1249EEAEB8}"/>
              </a:ext>
            </a:extLst>
          </p:cNvPr>
          <p:cNvSpPr txBox="1"/>
          <p:nvPr/>
        </p:nvSpPr>
        <p:spPr>
          <a:xfrm>
            <a:off x="4336026" y="1543665"/>
            <a:ext cx="3057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Scope</a:t>
            </a:r>
          </a:p>
          <a:p>
            <a:endParaRPr lang="en-US" dirty="0"/>
          </a:p>
          <a:p>
            <a:r>
              <a:rPr lang="en-US" dirty="0"/>
              <a:t>Full-stack web development including product catalogue, secure payment gateway, user accounts, and content management system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A4120-55DB-CFC9-5CBB-77A8968E1D73}"/>
              </a:ext>
            </a:extLst>
          </p:cNvPr>
          <p:cNvSpPr txBox="1"/>
          <p:nvPr/>
        </p:nvSpPr>
        <p:spPr>
          <a:xfrm>
            <a:off x="7885471" y="1435510"/>
            <a:ext cx="3165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 Launch</a:t>
            </a:r>
          </a:p>
          <a:p>
            <a:endParaRPr lang="en-US" dirty="0"/>
          </a:p>
          <a:p>
            <a:r>
              <a:rPr lang="en-US" dirty="0"/>
              <a:t>Q2 2026 with phased rollout of features and continuous </a:t>
            </a:r>
            <a:r>
              <a:rPr lang="en-US" dirty="0" err="1"/>
              <a:t>optimisation</a:t>
            </a:r>
            <a:r>
              <a:rPr lang="en-US" dirty="0"/>
              <a:t> based on user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28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E2261AF-7874-2E07-2F94-6A16836ED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32229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35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88FE-B7C1-F8D9-F77E-AD3E4031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Existing System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7441-264D-AC77-129A-650FC03132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Current Market Solutions</a:t>
            </a:r>
          </a:p>
          <a:p>
            <a:pPr marL="0" indent="0">
              <a:buNone/>
            </a:pPr>
            <a:r>
              <a:rPr lang="en-US" sz="2200" dirty="0"/>
              <a:t>We've conducted thorough research into leading supplement retailers to understand industry standards and common approaches.</a:t>
            </a:r>
          </a:p>
          <a:p>
            <a:r>
              <a:rPr lang="en-US" sz="2600" dirty="0"/>
              <a:t>Generic template-based designs with limited </a:t>
            </a:r>
            <a:r>
              <a:rPr lang="en-US" sz="2600" dirty="0" err="1"/>
              <a:t>customisation</a:t>
            </a:r>
            <a:endParaRPr lang="en-US" sz="2600" dirty="0"/>
          </a:p>
          <a:p>
            <a:r>
              <a:rPr lang="en-US" sz="2600" dirty="0"/>
              <a:t>Basic product </a:t>
            </a:r>
            <a:r>
              <a:rPr lang="en-US" sz="2600" dirty="0" err="1"/>
              <a:t>categorisation</a:t>
            </a:r>
            <a:r>
              <a:rPr lang="en-US" sz="2600" dirty="0"/>
              <a:t> without intelligent filtering</a:t>
            </a:r>
          </a:p>
          <a:p>
            <a:r>
              <a:rPr lang="en-US" sz="2600" dirty="0"/>
              <a:t>Minimal educational content or expert guidance</a:t>
            </a:r>
          </a:p>
          <a:p>
            <a:r>
              <a:rPr lang="en-US" sz="2600" dirty="0"/>
              <a:t>Slow page load times affecting user experience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C49B0-0CCE-C1E6-047B-E783354102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Identified Limitations</a:t>
            </a:r>
          </a:p>
          <a:p>
            <a:r>
              <a:rPr lang="en-US" b="1" dirty="0"/>
              <a:t>Poor </a:t>
            </a:r>
            <a:r>
              <a:rPr lang="en-US" b="1" dirty="0" err="1"/>
              <a:t>personalisation</a:t>
            </a:r>
            <a:r>
              <a:rPr lang="en-US" b="1" dirty="0"/>
              <a:t>:</a:t>
            </a:r>
            <a:r>
              <a:rPr lang="en-US" dirty="0"/>
              <a:t> No tailored product recommendations based on fitness goals</a:t>
            </a:r>
          </a:p>
          <a:p>
            <a:r>
              <a:rPr lang="en-US" b="1" dirty="0"/>
              <a:t>Weak trust signals:</a:t>
            </a:r>
            <a:r>
              <a:rPr lang="en-US" dirty="0"/>
              <a:t> Insufficient product reviews and certification displays</a:t>
            </a:r>
          </a:p>
          <a:p>
            <a:r>
              <a:rPr lang="en-US" b="1" dirty="0"/>
              <a:t>Limited engagement:</a:t>
            </a:r>
            <a:r>
              <a:rPr lang="en-US" dirty="0"/>
              <a:t> Lack of community features or expert content</a:t>
            </a:r>
          </a:p>
          <a:p>
            <a:r>
              <a:rPr lang="en-US" b="1" dirty="0"/>
              <a:t>Checkout friction:</a:t>
            </a:r>
            <a:r>
              <a:rPr lang="en-US" dirty="0"/>
              <a:t> Complex payment processes leading to cart abandonment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75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C503-BD4E-6D30-E883-4022CE99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GAINZ System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570A8-33AE-FEFF-74F5-896123A4996F}"/>
              </a:ext>
            </a:extLst>
          </p:cNvPr>
          <p:cNvSpPr txBox="1"/>
          <p:nvPr/>
        </p:nvSpPr>
        <p:spPr>
          <a:xfrm>
            <a:off x="560439" y="1690688"/>
            <a:ext cx="46211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Interface Layer</a:t>
            </a:r>
          </a:p>
          <a:p>
            <a:r>
              <a:rPr lang="en-US" dirty="0"/>
              <a:t>Responsive, accessible design </a:t>
            </a:r>
            <a:r>
              <a:rPr lang="en-US" dirty="0" err="1"/>
              <a:t>optimised</a:t>
            </a:r>
            <a:r>
              <a:rPr lang="en-US" dirty="0"/>
              <a:t> for all devices with intuitive navigation and engaging product displays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4E883-50E8-5AF0-521E-013BF594F358}"/>
              </a:ext>
            </a:extLst>
          </p:cNvPr>
          <p:cNvSpPr txBox="1"/>
          <p:nvPr/>
        </p:nvSpPr>
        <p:spPr>
          <a:xfrm>
            <a:off x="6351639" y="1543665"/>
            <a:ext cx="4798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Application Logic</a:t>
            </a:r>
          </a:p>
          <a:p>
            <a:r>
              <a:rPr lang="en-US" dirty="0"/>
              <a:t>Smart recommendation engine, advanced search functionality, and </a:t>
            </a:r>
            <a:r>
              <a:rPr lang="en-US" dirty="0" err="1"/>
              <a:t>personalised</a:t>
            </a:r>
            <a:r>
              <a:rPr lang="en-US" dirty="0"/>
              <a:t> user dashboards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D7B10-3004-F0A2-FC3C-93E4BF5D86C8}"/>
              </a:ext>
            </a:extLst>
          </p:cNvPr>
          <p:cNvSpPr txBox="1"/>
          <p:nvPr/>
        </p:nvSpPr>
        <p:spPr>
          <a:xfrm>
            <a:off x="560439" y="3529781"/>
            <a:ext cx="46211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Management</a:t>
            </a:r>
          </a:p>
          <a:p>
            <a:r>
              <a:rPr lang="en-US" dirty="0"/>
              <a:t>Secure database infrastructure with product catalogue, customer profiles, and order processing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05030-A678-F22E-D2C7-17DC686C87F6}"/>
              </a:ext>
            </a:extLst>
          </p:cNvPr>
          <p:cNvSpPr txBox="1"/>
          <p:nvPr/>
        </p:nvSpPr>
        <p:spPr>
          <a:xfrm>
            <a:off x="6007510" y="3529781"/>
            <a:ext cx="4896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&amp; Integration</a:t>
            </a:r>
          </a:p>
          <a:p>
            <a:r>
              <a:rPr lang="en-US" dirty="0"/>
              <a:t>Payment gateway integration, SSL encryption, and third-party API connections for shipping and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22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90D5-BE07-DD1F-79DF-E74295A2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Technology Stack &amp; Requirements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E5456-ECB5-83D4-D93A-3CE2A332AC62}"/>
              </a:ext>
            </a:extLst>
          </p:cNvPr>
          <p:cNvSpPr txBox="1"/>
          <p:nvPr/>
        </p:nvSpPr>
        <p:spPr>
          <a:xfrm>
            <a:off x="678426" y="1514168"/>
            <a:ext cx="4670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Tailwind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JS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2C039-BF52-C8F3-225E-19E25D40EE48}"/>
              </a:ext>
            </a:extLst>
          </p:cNvPr>
          <p:cNvSpPr txBox="1"/>
          <p:nvPr/>
        </p:nvSpPr>
        <p:spPr>
          <a:xfrm>
            <a:off x="747252" y="3028335"/>
            <a:ext cx="2477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My SQL(Database)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777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A8B4-65F1-844A-9772-F0DE3BEC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 Diagram</a:t>
            </a:r>
            <a:endParaRPr lang="en-IN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46C0E3E-4F6F-F1AD-DD67-CBF111365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331" y="1520825"/>
            <a:ext cx="2015716" cy="4351338"/>
          </a:xfrm>
        </p:spPr>
      </p:pic>
    </p:spTree>
    <p:extLst>
      <p:ext uri="{BB962C8B-B14F-4D97-AF65-F5344CB8AC3E}">
        <p14:creationId xmlns:p14="http://schemas.microsoft.com/office/powerpoint/2010/main" val="243723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11EA-9DF2-9689-1F98-55D188A4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5B73075-2F73-4C2F-DF8E-3EE3CD4A4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774" y="1758569"/>
            <a:ext cx="4512724" cy="4351338"/>
          </a:xfrm>
        </p:spPr>
      </p:pic>
    </p:spTree>
    <p:extLst>
      <p:ext uri="{BB962C8B-B14F-4D97-AF65-F5344CB8AC3E}">
        <p14:creationId xmlns:p14="http://schemas.microsoft.com/office/powerpoint/2010/main" val="385119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B5CB-301B-41A3-B6CC-E3DB557E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F6BDA2-EF5A-E057-F98C-9AAF4FC51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18" y="2241295"/>
            <a:ext cx="5157634" cy="4351338"/>
          </a:xfrm>
        </p:spPr>
      </p:pic>
    </p:spTree>
    <p:extLst>
      <p:ext uri="{BB962C8B-B14F-4D97-AF65-F5344CB8AC3E}">
        <p14:creationId xmlns:p14="http://schemas.microsoft.com/office/powerpoint/2010/main" val="250657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7CC1-2D5B-08C2-2B25-9B68A9CC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680" y="0"/>
            <a:ext cx="5440680" cy="1047115"/>
          </a:xfrm>
        </p:spPr>
        <p:txBody>
          <a:bodyPr/>
          <a:lstStyle/>
          <a:p>
            <a:pPr algn="ctr"/>
            <a:r>
              <a:rPr lang="en-US" dirty="0"/>
              <a:t>Data </a:t>
            </a:r>
            <a:r>
              <a:rPr lang="en-IN" dirty="0"/>
              <a:t>Dictionary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3EAA08-6CE5-BDDA-1BF1-9D3FD578E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123583"/>
              </p:ext>
            </p:extLst>
          </p:nvPr>
        </p:nvGraphicFramePr>
        <p:xfrm>
          <a:off x="469754" y="2305238"/>
          <a:ext cx="8529612" cy="4448752"/>
        </p:xfrm>
        <a:graphic>
          <a:graphicData uri="http://schemas.openxmlformats.org/drawingml/2006/table">
            <a:tbl>
              <a:tblPr/>
              <a:tblGrid>
                <a:gridCol w="2132403">
                  <a:extLst>
                    <a:ext uri="{9D8B030D-6E8A-4147-A177-3AD203B41FA5}">
                      <a16:colId xmlns:a16="http://schemas.microsoft.com/office/drawing/2014/main" val="2341740266"/>
                    </a:ext>
                  </a:extLst>
                </a:gridCol>
                <a:gridCol w="2132403">
                  <a:extLst>
                    <a:ext uri="{9D8B030D-6E8A-4147-A177-3AD203B41FA5}">
                      <a16:colId xmlns:a16="http://schemas.microsoft.com/office/drawing/2014/main" val="1417932735"/>
                    </a:ext>
                  </a:extLst>
                </a:gridCol>
                <a:gridCol w="2132403">
                  <a:extLst>
                    <a:ext uri="{9D8B030D-6E8A-4147-A177-3AD203B41FA5}">
                      <a16:colId xmlns:a16="http://schemas.microsoft.com/office/drawing/2014/main" val="860680080"/>
                    </a:ext>
                  </a:extLst>
                </a:gridCol>
                <a:gridCol w="2132403">
                  <a:extLst>
                    <a:ext uri="{9D8B030D-6E8A-4147-A177-3AD203B41FA5}">
                      <a16:colId xmlns:a16="http://schemas.microsoft.com/office/drawing/2014/main" val="1180371463"/>
                    </a:ext>
                  </a:extLst>
                </a:gridCol>
              </a:tblGrid>
              <a:tr h="2702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Field Name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Constraints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855557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user_id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UUID / INT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PK, AI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identifier for each athlete.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774408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full_name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VARCHAR(100)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user's legal name for shipping and billing.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567525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email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VARCHAR(255)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UNIQUE, NN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contact and login identifier.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3971"/>
                  </a:ext>
                </a:extLst>
              </a:tr>
              <a:tr h="6475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password_hash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VARCHAR(255)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Securely hashed password (never store plain text).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49462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phone_number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VARCHAR(15)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NULL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 delivery notifications and 2FA.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599687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fitness_goal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ENUM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NULL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Values: 'Muscle Gain', 'Fat Loss', 'Endurance'.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211045"/>
                  </a:ext>
                </a:extLst>
              </a:tr>
              <a:tr h="4589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created_at</a:t>
                      </a:r>
                      <a:endParaRPr lang="en-IN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TIMESTAMP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DEFAULT NOW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Account creation timestamp.</a:t>
                      </a:r>
                    </a:p>
                  </a:txBody>
                  <a:tcPr marL="74171" marR="74171" marT="49447" marB="494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981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458AE3-11C8-9A81-16E5-7E9A79490A1A}"/>
              </a:ext>
            </a:extLst>
          </p:cNvPr>
          <p:cNvSpPr txBox="1"/>
          <p:nvPr/>
        </p:nvSpPr>
        <p:spPr>
          <a:xfrm>
            <a:off x="459922" y="1503680"/>
            <a:ext cx="7627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User Table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3899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CE6B-C526-DD88-6682-721885CA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440" y="395605"/>
            <a:ext cx="458216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Product Table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4DFEB7-FAA7-A096-330B-C2F6B731D309}"/>
              </a:ext>
            </a:extLst>
          </p:cNvPr>
          <p:cNvGraphicFramePr>
            <a:graphicFrameLocks noGrp="1"/>
          </p:cNvGraphicFramePr>
          <p:nvPr/>
        </p:nvGraphicFramePr>
        <p:xfrm>
          <a:off x="1925968" y="1825626"/>
          <a:ext cx="8340064" cy="4351336"/>
        </p:xfrm>
        <a:graphic>
          <a:graphicData uri="http://schemas.openxmlformats.org/drawingml/2006/table">
            <a:tbl>
              <a:tblPr/>
              <a:tblGrid>
                <a:gridCol w="2085016">
                  <a:extLst>
                    <a:ext uri="{9D8B030D-6E8A-4147-A177-3AD203B41FA5}">
                      <a16:colId xmlns:a16="http://schemas.microsoft.com/office/drawing/2014/main" val="707150804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555030930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108255038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291940263"/>
                    </a:ext>
                  </a:extLst>
                </a:gridCol>
              </a:tblGrid>
              <a:tr h="3142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Field Name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Constraints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348914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product_id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UUID / INT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PK, AI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ID for each product SKU.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320611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VARCHAR(100)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 name (e.g., "Elite Whey Isolate").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49173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VARCHAR(50)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Protein, Creatine, Pre-workout, Vitamins.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354779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flavor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VARCHAR(50)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NULL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Flavor variants like 'Kesar Pista' or 'Mango'.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90082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price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DECIMAL(10,2)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 price in local currency.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16428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stock_qty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DEFAULT 0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inventory count.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792122"/>
                  </a:ext>
                </a:extLst>
              </a:tr>
              <a:tr h="3142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protein_per_serving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DECIMAL(5,2)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NULL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Nutritional value (grams).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346826"/>
                  </a:ext>
                </a:extLst>
              </a:tr>
              <a:tr h="531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is_active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BOOLEAN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DEFAULT TRUE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Toggle for out-of-stock or discontinued items.</a:t>
                      </a:r>
                    </a:p>
                  </a:txBody>
                  <a:tcPr marL="72522" marR="72522" marT="48348" marB="4834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022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00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43C6-10BA-39C0-0649-CACAE215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60" y="334645"/>
            <a:ext cx="611632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Order Table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2337C4-9E0A-80D8-D406-4D7001A93FA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28654"/>
          <a:ext cx="10515600" cy="4145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235919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68749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58388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6764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Field Name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Constraints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480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order_id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UUID / INT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PK, AI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transaction ID.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09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user_id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UUID / INT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FK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References </a:t>
                      </a: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users(user_id)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2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total_amount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DECIMAL(10,2)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cost after taxes and discounts.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772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order_status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ENUM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'Processing', 'Shipped', 'Delivered', 'Cancelled'.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116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shipping_address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destination for the delivery.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396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payment_status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ENUM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'Pending', 'Paid', 'Failed', 'Refunded'.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32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65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BAFB-851A-4C3C-CC26-CFB3E8A4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0" y="385445"/>
            <a:ext cx="573024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Contact Table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AE251A-9E9F-1101-EEB8-B3CBBDE3D45A}"/>
              </a:ext>
            </a:extLst>
          </p:cNvPr>
          <p:cNvGraphicFramePr>
            <a:graphicFrameLocks noGrp="1"/>
          </p:cNvGraphicFramePr>
          <p:nvPr/>
        </p:nvGraphicFramePr>
        <p:xfrm>
          <a:off x="919408" y="1798088"/>
          <a:ext cx="10353184" cy="4406412"/>
        </p:xfrm>
        <a:graphic>
          <a:graphicData uri="http://schemas.openxmlformats.org/drawingml/2006/table">
            <a:tbl>
              <a:tblPr/>
              <a:tblGrid>
                <a:gridCol w="2588296">
                  <a:extLst>
                    <a:ext uri="{9D8B030D-6E8A-4147-A177-3AD203B41FA5}">
                      <a16:colId xmlns:a16="http://schemas.microsoft.com/office/drawing/2014/main" val="2120576111"/>
                    </a:ext>
                  </a:extLst>
                </a:gridCol>
                <a:gridCol w="2588296">
                  <a:extLst>
                    <a:ext uri="{9D8B030D-6E8A-4147-A177-3AD203B41FA5}">
                      <a16:colId xmlns:a16="http://schemas.microsoft.com/office/drawing/2014/main" val="397688605"/>
                    </a:ext>
                  </a:extLst>
                </a:gridCol>
                <a:gridCol w="2588296">
                  <a:extLst>
                    <a:ext uri="{9D8B030D-6E8A-4147-A177-3AD203B41FA5}">
                      <a16:colId xmlns:a16="http://schemas.microsoft.com/office/drawing/2014/main" val="2437936401"/>
                    </a:ext>
                  </a:extLst>
                </a:gridCol>
                <a:gridCol w="2588296">
                  <a:extLst>
                    <a:ext uri="{9D8B030D-6E8A-4147-A177-3AD203B41FA5}">
                      <a16:colId xmlns:a16="http://schemas.microsoft.com/office/drawing/2014/main" val="1385888085"/>
                    </a:ext>
                  </a:extLst>
                </a:gridCol>
              </a:tblGrid>
              <a:tr h="3901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Field Name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Constraints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89383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inquiry_id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PK, AI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ID for the support ticket.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339712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sender_name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VARCHAR(100)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Name provided in the contact form.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824909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sender_email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VARCHAR(255)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Email provided for follow-up.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00699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subject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VARCHAR(150)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NULL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 selected (e.g., Order Support).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506616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message_body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actual message transmitted.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33221"/>
                  </a:ext>
                </a:extLst>
              </a:tr>
              <a:tr h="660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received_at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TIMESTAMP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DEFAULT NOW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When the message hit your system.</a:t>
                      </a:r>
                    </a:p>
                  </a:txBody>
                  <a:tcPr marL="90028" marR="90028" marT="60018" marB="60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95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07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9382-2B5E-7677-A9F8-47E83B6F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834" y="252173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Algerian" panose="04020705040A02060702" pitchFamily="82" charset="0"/>
              </a:rPr>
              <a:t>Thank You</a:t>
            </a:r>
            <a:endParaRPr lang="en-IN" sz="6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2634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252</TotalTime>
  <Words>814</Words>
  <Application>Microsoft Office PowerPoint</Application>
  <PresentationFormat>Widescreen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Century Gothic</vt:lpstr>
      <vt:lpstr>Google Sans Text</vt:lpstr>
      <vt:lpstr>Wingdings 3</vt:lpstr>
      <vt:lpstr>Wisp</vt:lpstr>
      <vt:lpstr>GAINZ</vt:lpstr>
      <vt:lpstr>Project Foundation</vt:lpstr>
      <vt:lpstr>PowerPoint Presentation</vt:lpstr>
      <vt:lpstr>PowerPoint Presentation</vt:lpstr>
      <vt:lpstr>Existing System Analysis </vt:lpstr>
      <vt:lpstr>GAINZ System Architecture </vt:lpstr>
      <vt:lpstr>Technology Stack &amp; Requirements </vt:lpstr>
      <vt:lpstr>Activity Diagram</vt:lpstr>
      <vt:lpstr>USE CASE Diagram</vt:lpstr>
      <vt:lpstr>Class Diagram</vt:lpstr>
      <vt:lpstr>Data Dictionary</vt:lpstr>
      <vt:lpstr>Product Table</vt:lpstr>
      <vt:lpstr>Order Table</vt:lpstr>
      <vt:lpstr>Contact Table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Henil Patel</dc:creator>
  <cp:lastModifiedBy>Henil Patel</cp:lastModifiedBy>
  <cp:revision>2</cp:revision>
  <dcterms:created xsi:type="dcterms:W3CDTF">2026-01-26T10:51:17Z</dcterms:created>
  <dcterms:modified xsi:type="dcterms:W3CDTF">2026-01-28T07:38:53Z</dcterms:modified>
</cp:coreProperties>
</file>